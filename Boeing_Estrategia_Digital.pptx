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0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05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3FE49-EFD1-1F3F-2B3F-EF722FE4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65CFC-B284-088E-1D50-1EAC020A9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94E96-267F-C125-680C-8381E24FE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929D5-26E7-F094-D41E-4A370FCA76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6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D0B39-350F-3591-AB3D-A9723DDBB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03247-B2E8-3146-C375-B079B0CAF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4E4B0-85E5-81C4-2147-1808BA83E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61FAE-FFC7-AFD8-AFD1-FCA9D5148C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31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DFE1-8CD2-EAEE-1535-E0422A9EF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8AC10-02D9-E344-0586-41BD23CFA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761E8-FCEB-D451-1ECD-06517B74C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FBD89-1A8A-918F-FC7A-84F491D71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43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PONTIFICIA BOLIVARIANA · DATA OFFICE STRATEGY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23317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BOEING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Calidad, seguridad y manufactura conectada en la era IoT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4800600"/>
            <a:ext cx="1371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de calidad y seguridad en la línea 737 MAX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Evaluativo · Estrategias Corporativas en Entornos Digitales · 2026-1S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contexto estratégico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crisis de la línea 737 MAX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enfrenta una crisis profunda de calidad y seguridad en su línea 737 MAX. Los incidentes documentados evidencian fallas humanas en el ensamblaje, controles de calidad reactivos y una pérdida sostenida de confianza por parte de reguladores, aerolíneas y pasajeros.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 estratégica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los controles puramente manuales y reactivos por sistemas predictivos basados en IoT y analítica de datos en tiempo real, sin detener la producción ni destruir el conocimiento operativo de la planta.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280160"/>
            <a:ext cx="484632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858000" y="1280160"/>
            <a:ext cx="73152" cy="1417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5448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77240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vidas perdidas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2240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 Lion Air 610 y Ethiopian Airlines 302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0" y="2834640"/>
            <a:ext cx="484632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6858000" y="2834640"/>
            <a:ext cx="73152" cy="1417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10896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772400" y="2971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meses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777240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 inmovilizada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772400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por miles de millones de USD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858000" y="4389120"/>
            <a:ext cx="484632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19"/>
          <p:cNvSpPr/>
          <p:nvPr/>
        </p:nvSpPr>
        <p:spPr>
          <a:xfrm>
            <a:off x="6858000" y="4389120"/>
            <a:ext cx="73152" cy="1417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66344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772400" y="4526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7772400" y="5029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reforzada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772400" y="5349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y restricciones regulatorias activas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organización y diagnóstico actual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40680" cy="50749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40680" cy="502920"/>
          </a:xfrm>
          <a:prstGeom prst="rect">
            <a:avLst/>
          </a:prstGeom>
          <a:solidFill>
            <a:srgbClr val="5A6A85"/>
          </a:solidFill>
          <a:ln w="12700">
            <a:solidFill>
              <a:srgbClr val="5A6A8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ACTUAL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jerárquica tradicional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por función (ingeniería, manufactura, calidad, suministro)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lentas y centralizadas en mandos altos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 manual, basado en muestreo y reactivo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planta dispersos en sistemas heredados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orientada a velocidad de producción sobre calidad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280160"/>
            <a:ext cx="5440680" cy="50749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6263640" y="1280160"/>
            <a:ext cx="544068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263640" y="12801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PROPUESTO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1965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Matricial-ágil con nodos de calidad-producción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46888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transversales calidad + ingeniería + producción por línea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Empowerment del operario: Andon Digital para detener la línea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ágiles con squads dedicados por estación crítica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Office central que provee datos confiables a todas las áreas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"Calidad Basada en Datos" como valor compartido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corporativo y visión estratégica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14630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37160" cy="1463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cada planta de Boeing en una manufactura conectada donde la calidad se mide en tiempo real, las fallas humanas se previenen con datos y cada aeronave despega con trazabilidad total.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con los objetivos básicos organizacionales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743200" cy="27889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27432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417320" y="3703320"/>
            <a:ext cx="822960" cy="8229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88620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5074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costo de no calidad (CONC), retrabajos y compensaciones por fallos en producción.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91840" y="3383280"/>
            <a:ext cx="2743200" cy="27889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3291840" y="3383280"/>
            <a:ext cx="27432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4251960" y="3703320"/>
            <a:ext cx="822960" cy="8229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88620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7472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520440" y="5074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la confianza regulatoria y social mediante trazabilidad inmutable y auditable.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26480" y="3383280"/>
            <a:ext cx="2743200" cy="27889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0"/>
          <p:cNvSpPr/>
          <p:nvPr/>
        </p:nvSpPr>
        <p:spPr>
          <a:xfrm>
            <a:off x="6126480" y="3383280"/>
            <a:ext cx="27432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1"/>
          <p:cNvSpPr/>
          <p:nvPr/>
        </p:nvSpPr>
        <p:spPr>
          <a:xfrm>
            <a:off x="7086600" y="3703320"/>
            <a:ext cx="822960" cy="8229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388620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0936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355080" y="5074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Adoptar IoT, gemelos digitales y analítica predictiva como ventaja competitiva aeroespacial.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961120" y="3383280"/>
            <a:ext cx="2743200" cy="27889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5"/>
          <p:cNvSpPr/>
          <p:nvPr/>
        </p:nvSpPr>
        <p:spPr>
          <a:xfrm>
            <a:off x="8961120" y="3383280"/>
            <a:ext cx="27432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6"/>
          <p:cNvSpPr/>
          <p:nvPr/>
        </p:nvSpPr>
        <p:spPr>
          <a:xfrm>
            <a:off x="9921240" y="3703320"/>
            <a:ext cx="822960" cy="8229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388620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4400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189720" y="5074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reprocesos, omisiones humanas y paros no planificados en la línea de ensamblaje.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entorno: Porter y Ansoff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Fuerzas de Porter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48640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777240" cy="7772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proveedores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fabricantes de sensores IoT con grado aeroespacial certificado.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548640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777240" cy="7772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6060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 de regulación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FAA, EASA y otros reguladores con auditorías reforzadas tras 737 MAX.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548640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777240" cy="777240"/>
          </a:xfrm>
          <a:prstGeom prst="rect">
            <a:avLst/>
          </a:prstGeom>
          <a:solidFill>
            <a:srgbClr val="F5B100"/>
          </a:solidFill>
          <a:ln w="12700">
            <a:solidFill>
              <a:srgbClr val="F5B1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34290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Rivalidad competitiva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37490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presiona en eficiencia y reputación de seguridad.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548640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777240" cy="77724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4251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 de sustitutos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45720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Aviación comercial sin sustitutos viables en el corto plazo.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029200"/>
            <a:ext cx="548640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57200" y="5029200"/>
            <a:ext cx="777240" cy="777240"/>
          </a:xfrm>
          <a:prstGeom prst="rect">
            <a:avLst/>
          </a:prstGeom>
          <a:solidFill>
            <a:srgbClr val="F5B100"/>
          </a:solidFill>
          <a:ln w="12700">
            <a:solidFill>
              <a:srgbClr val="F5B1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57200" y="5029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50749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del cliente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53949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Aerolíneas exigen trazabilidad y garantías post-incidentes.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Ansoff · estrategia seleccionada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903720" y="1783080"/>
            <a:ext cx="2331720" cy="1874520"/>
          </a:xfrm>
          <a:prstGeom prst="rect">
            <a:avLst/>
          </a:prstGeom>
          <a:solidFill>
            <a:srgbClr val="0A1F44"/>
          </a:solidFill>
          <a:ln w="317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7040880" y="20116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Penetración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mercado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2880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actuales · mercados actuales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235440" y="1783080"/>
            <a:ext cx="233172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9372600" y="20116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producto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372600" y="2880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productos · mercados actuales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03720" y="3657600"/>
            <a:ext cx="233172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7040880" y="38862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mercado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40880" y="47548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actuales · nuevos mercados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235440" y="3657600"/>
            <a:ext cx="233172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9372600" y="38862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Diversificación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372600" y="47548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productos · nuevos mercados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63640" y="57150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seleccionada: penetrar más profundo el mercado actual (aerolíneas comerciales) recuperando confianza vía calidad medible y trazable. No es momento de diversificar.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generadas — pensamiento divergente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Lluvia de alternativas estratégicas evaluadas por el equipo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15087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960120" cy="960120"/>
          </a:xfrm>
          <a:prstGeom prst="ellipse">
            <a:avLst/>
          </a:prstGeom>
          <a:solidFill>
            <a:srgbClr val="5A6A85"/>
          </a:solidFill>
          <a:ln w="12700">
            <a:solidFill>
              <a:srgbClr val="5A6A8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Tercerización del ensamblaje crítico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194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procesos críticos a empresas externas con certificaciones de calidad independientes.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651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</a:t>
            </a: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riesgo · acceso a know-how externo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898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Contras: </a:t>
            </a: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control · dependencia · riesgo reputacional residual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11247120" cy="15087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85800" y="3566160"/>
            <a:ext cx="960120" cy="960120"/>
          </a:xfrm>
          <a:prstGeom prst="ellipse">
            <a:avLst/>
          </a:prstGeom>
          <a:solidFill>
            <a:srgbClr val="5A6A85"/>
          </a:solidFill>
          <a:ln w="12700">
            <a:solidFill>
              <a:srgbClr val="5A6A8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828800" y="3429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total con robótica avanzada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la intervención humana directa hasta dejarla en ~10% mediante robots avanzados.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4251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</a:t>
            </a: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dramática del error humano · alta consistencia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44988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Contras: </a:t>
            </a: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inviable a corto plazo · detiene la producción · conflicto sindical fuerte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11247120" cy="1508760"/>
          </a:xfrm>
          <a:prstGeom prst="rect">
            <a:avLst/>
          </a:prstGeom>
          <a:solidFill>
            <a:srgbClr val="0A1F44"/>
          </a:solidFill>
          <a:ln w="31750">
            <a:solidFill>
              <a:srgbClr val="C8102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85800" y="5166360"/>
            <a:ext cx="960120" cy="9601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85800" y="5166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828800" y="5029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digital al humano: IoT + analítica predictiva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28800" y="5394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IoT, visión computacional y analítica predictiva sobre las líneas actuales. El humano se mantiene como supervisor empoderado.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58521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E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 la causa estadística de fallas · preserva empleo · escalable por fases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6099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middleware industrial · gestión cuidadosa del cambio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515600" y="5029200"/>
            <a:ext cx="1097280" cy="274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10515600" y="5029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decisión — pensamiento convergente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ponderada bajo criterios estratégicos (escala 1-5)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0233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Tercerizar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Automatizar 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IoT + Humano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Viabilidad financiera (CAPEX)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implementación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 de riesgos críticos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Aceptación laboral / sindicatos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Cumplimiento regulatorio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PONDERADO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4.70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457200" y="5897880"/>
            <a:ext cx="11247120" cy="59436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40080" y="5897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</a:t>
            </a:r>
            <a:r>
              <a:rPr lang="en-US" sz="120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C equilibra el factor humano con un control digital estricto, atacando la probabilidad estadística de las fallas sin requerir una reconstrucción total de las plantas.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corporativa final · Balanced Scorecard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623560" cy="26060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62356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777240" cy="77724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28216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15544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45920" y="199339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BSC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246888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costos por fallos, paralizaciones y compensaciones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No Calidad (CONC) por aeronave ensamblada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prevención de defectos basado en datos para evitar retrabajos costosos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280160"/>
            <a:ext cx="5623560" cy="26060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6172200" y="1280160"/>
            <a:ext cx="562356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6446520" y="1554480"/>
            <a:ext cx="777240" cy="77724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728216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60920" y="15544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/ Entorno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360920" y="199339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BSC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446520" y="246888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la confianza en la seguridad y cumplir normativas (FAA)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incidentes reportados · auditorías sin observaciones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trazabilidad inmutable para verificación regulatoria en tiempo real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3977640"/>
            <a:ext cx="5623560" cy="26060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457200" y="3977640"/>
            <a:ext cx="562356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8"/>
          <p:cNvSpPr/>
          <p:nvPr/>
        </p:nvSpPr>
        <p:spPr>
          <a:xfrm>
            <a:off x="731520" y="4251960"/>
            <a:ext cx="777240" cy="77724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25696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45920" y="4251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Internos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1645920" y="469087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BSC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31520" y="516636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precisión exacta en el ensamblaje y evitar omisiones humanas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defectos por unidad (DPU) en tiempo real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IoT en herramientas (llaves de torque conectadas) y escáneres 3D en línea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172200" y="3977640"/>
            <a:ext cx="5623560" cy="26060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3"/>
          <p:cNvSpPr/>
          <p:nvPr/>
        </p:nvSpPr>
        <p:spPr>
          <a:xfrm>
            <a:off x="6172200" y="3977640"/>
            <a:ext cx="562356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4"/>
          <p:cNvSpPr/>
          <p:nvPr/>
        </p:nvSpPr>
        <p:spPr>
          <a:xfrm>
            <a:off x="6446520" y="4251960"/>
            <a:ext cx="777240" cy="77724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425696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60920" y="4251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y Crecimiento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7360920" y="469087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BSC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446520" y="516636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a la fuerza laboral en interacción con sistemas digitales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operarios certificados en herramientas de diagnóstico digital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·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en interfaces IoT y cultura de "Calidad Basada en Datos"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transformación · 6-12 meses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10972800" cy="9144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749933" y="1755648"/>
            <a:ext cx="329184" cy="329184"/>
          </a:xfrm>
          <a:prstGeom prst="ellipse">
            <a:avLst/>
          </a:prstGeom>
          <a:solidFill>
            <a:srgbClr val="C8102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2640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1-3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286000"/>
            <a:ext cx="2640330" cy="39319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22745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piloto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3246120"/>
            <a:ext cx="1725930" cy="274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22745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infraestructura actual e instalación de sensores piloto en la línea de fuselaje del 737 MAX.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5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Supuesto: hardware IoT aeroespacial disponible sin cuellos de botella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27423" y="1755648"/>
            <a:ext cx="329184" cy="329184"/>
          </a:xfrm>
          <a:prstGeom prst="ellipse">
            <a:avLst/>
          </a:prstGeom>
          <a:solidFill>
            <a:srgbClr val="C8102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371850" y="1371600"/>
            <a:ext cx="2640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4-6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71850" y="2286000"/>
            <a:ext cx="2640330" cy="39319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554730" y="2514600"/>
            <a:ext cx="22745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formación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29050" y="3246120"/>
            <a:ext cx="1725930" cy="274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554730" y="3383280"/>
            <a:ext cx="22745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de datos en tiempo real desplegada y capacitación del 30% del personal operativo clave.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54730" y="512064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40 horas de capacitación por operario certificado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04913" y="1755648"/>
            <a:ext cx="329184" cy="329184"/>
          </a:xfrm>
          <a:prstGeom prst="ellipse">
            <a:avLst/>
          </a:prstGeom>
          <a:solidFill>
            <a:srgbClr val="C8102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149340" y="1371600"/>
            <a:ext cx="2640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7-9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49340" y="2286000"/>
            <a:ext cx="2640330" cy="39319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332220" y="2514600"/>
            <a:ext cx="22745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06540" y="3246120"/>
            <a:ext cx="1725930" cy="274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332220" y="3383280"/>
            <a:ext cx="22745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del sistema tecnológico hacia las líneas secundarias de ensamblaje con integración progresiva.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32220" y="512064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5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3 líneas secundarias integradas al data lake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082403" y="1755648"/>
            <a:ext cx="329184" cy="329184"/>
          </a:xfrm>
          <a:prstGeom prst="ellipse">
            <a:avLst/>
          </a:prstGeom>
          <a:solidFill>
            <a:srgbClr val="C8102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8926830" y="1371600"/>
            <a:ext cx="2640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10-12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26830" y="2286000"/>
            <a:ext cx="2640330" cy="39319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9109710" y="2514600"/>
            <a:ext cx="22745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total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84030" y="3246120"/>
            <a:ext cx="1725930" cy="274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9109710" y="3383280"/>
            <a:ext cx="22745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completa de la planta principal y evaluación algorítmica de los estándares de calidad.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09710" y="512064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&gt; 85% reducción de fallas humanas · &lt; 1% downtime de sensores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conflictos y riesgos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tipologías y planes de mitigación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62356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91440" cy="2331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74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8745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TECNOLÓGICO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508760" y="21488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 integración de sistemas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265176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Incompatibilidad de latencia entre los sistemas heredados de Boeing y la nueva arquitectura IoT.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329184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</a:t>
            </a:r>
            <a:r>
              <a:rPr lang="en-US" sz="10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fases controladas y despliegue de middleware industrial para homologar la transferencia de datos entre sistemas.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72200" y="1691640"/>
            <a:ext cx="562356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6172200" y="1691640"/>
            <a:ext cx="91440" cy="2331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6446520" y="1920240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0574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23760" y="18745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LABORAL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223760" y="21488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al cambio · sindicatos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446520" y="265176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de sindicatos por temor al desplazamiento laboral a causa de la automatización progresiva.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446520" y="329184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</a:t>
            </a:r>
            <a:r>
              <a:rPr lang="en-US" sz="10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Mesas de diálogo con enfoque digital y humano, garantizando reentrenamiento continuo y reposicionando al operario como supervisor de sistemas.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7200" y="4114800"/>
            <a:ext cx="562356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0"/>
          <p:cNvSpPr/>
          <p:nvPr/>
        </p:nvSpPr>
        <p:spPr>
          <a:xfrm>
            <a:off x="457200" y="4114800"/>
            <a:ext cx="91440" cy="2331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1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8056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08760" y="4297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REGULATORIO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508760" y="4572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y certificaciones FAA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731520" y="507492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 retrasos por revisiones regulatorias adicionales sobre nuevos sistemas digitales en líneas certificadas.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731520" y="571500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</a:t>
            </a:r>
            <a:r>
              <a:rPr lang="en-US" sz="10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Co-diseño temprano con FAA · pilotos auditables · trazabilidad inmutable como prueba documental ante reguladores.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172200" y="4114800"/>
            <a:ext cx="562356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27"/>
          <p:cNvSpPr/>
          <p:nvPr/>
        </p:nvSpPr>
        <p:spPr>
          <a:xfrm>
            <a:off x="6172200" y="4114800"/>
            <a:ext cx="91440" cy="2331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28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480560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223760" y="4297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CULTURAL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7223760" y="4572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interna lenta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6446520" y="507492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silenciosa de mandos medios acostumbrados a controles manuales y reportes en papel.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6446520" y="571500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</a:t>
            </a:r>
            <a:r>
              <a:rPr lang="en-US" sz="10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embajadores digitales por planta · gamificación de reportes IoT · bonos por cero defectos en lugar de bonos por velocidad.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E27A-C7A8-0750-AFDA-81C366349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C5CE56-016F-A9CF-0314-4B42D8614619}"/>
              </a:ext>
            </a:extLst>
          </p:cNvPr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4A9CC9-228C-E441-1739-4E7DF59CFD9D}"/>
              </a:ext>
            </a:extLst>
          </p:cNvPr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D905A9-1B12-5663-956F-DB6C16000F14}"/>
              </a:ext>
            </a:extLst>
          </p:cNvPr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as-is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50D750-58E2-45BF-974D-FBF9488314D6}"/>
              </a:ext>
            </a:extLst>
          </p:cNvPr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BF2158E5-F0C4-A4D5-94CF-5475240AB04B}"/>
              </a:ext>
            </a:extLst>
          </p:cNvPr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04F32077-1A94-F092-00D3-EDEAA2644C35}"/>
              </a:ext>
            </a:extLst>
          </p:cNvPr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CB016A8-402D-380E-3F97-D4ABB5EFE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59" y="1133856"/>
            <a:ext cx="11454882" cy="484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4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DBA60-8F0A-BED9-3AFA-A99715E51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AC84A8-1B70-0603-69BA-3BE4D8F84532}"/>
              </a:ext>
            </a:extLst>
          </p:cNvPr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534035-1A6D-A0CA-ECCD-B1FFE6EA0862}"/>
              </a:ext>
            </a:extLst>
          </p:cNvPr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95E680-5515-F1DB-C1E8-DE648D5C038F}"/>
              </a:ext>
            </a:extLst>
          </p:cNvPr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to-be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6F6D81-9C70-4A37-8B6D-C7DB557BC414}"/>
              </a:ext>
            </a:extLst>
          </p:cNvPr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94EECF1C-C2E6-4701-33D2-C507D115E70A}"/>
              </a:ext>
            </a:extLst>
          </p:cNvPr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42C49CD8-5332-284E-E924-49643CE291C5}"/>
              </a:ext>
            </a:extLst>
          </p:cNvPr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13185B2-13FA-80B1-9B5D-02237EBC1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725" y="1198078"/>
            <a:ext cx="8833602" cy="505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57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03F6B-DEE3-ED9A-1E8C-0B465A3A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C68CF4-4673-687C-4C00-67D7078481E0}"/>
              </a:ext>
            </a:extLst>
          </p:cNvPr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7A7992-75D5-2435-89E4-6A159CFBFFD2}"/>
              </a:ext>
            </a:extLst>
          </p:cNvPr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621831-C295-BC68-C069-03B32A0F4191}"/>
              </a:ext>
            </a:extLst>
          </p:cNvPr>
          <p:cNvSpPr/>
          <p:nvPr/>
        </p:nvSpPr>
        <p:spPr>
          <a:xfrm>
            <a:off x="1097280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B3E7273-89A3-4C77-4F75-66F7A8943A29}"/>
              </a:ext>
            </a:extLst>
          </p:cNvPr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585B277C-7808-A8BF-76A1-396B28F05E11}"/>
              </a:ext>
            </a:extLst>
          </p:cNvPr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· Transformación Digital · UPB Data Office Strategy</a:t>
            </a:r>
            <a:endParaRPr lang="en-US" sz="9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5108E92C-810D-2B2C-F30C-7F71ADAFA5F4}"/>
              </a:ext>
            </a:extLst>
          </p:cNvPr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00113DC-EC90-6B6B-3101-A7063ADB4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37500"/>
            <a:ext cx="108489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44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MENSAJE DEL EQUIPO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Innovamos hoy,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volamos seguro mañana.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3716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humanamente viable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548640" cy="2743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digital al humano (Opción C) preserva el conocimiento operativo y la legitimidad social del cambio.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63440" y="3337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medible en tiempo real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4617720"/>
            <a:ext cx="548640" cy="2743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663440" y="4754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IoT, analítica predictiva y BSC convierten la calidad en una variable instrumentada, no en un acto de fe.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0" y="3337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503920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recuperable y auditable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3920" y="4617720"/>
            <a:ext cx="548640" cy="2743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inmutable y co-diseño con la FAA reposicionan a Boeing como referente de seguridad aeroespacial.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Estrategia Corporativa · Universidad Pontificia Bolivariana · 2026-1S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1547</Words>
  <Application>Microsoft Office PowerPoint</Application>
  <PresentationFormat>Panorámica</PresentationFormat>
  <Paragraphs>256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Transformación Digital Boeing - Calidad y Seguridad Aeroespacial</dc:title>
  <dc:subject>PptxGenJS Presentation</dc:subject>
  <dc:creator>Equipo Estrategia Corporativa - UPB</dc:creator>
  <cp:lastModifiedBy>Santiago Mendoza Munoz</cp:lastModifiedBy>
  <cp:revision>2</cp:revision>
  <dcterms:created xsi:type="dcterms:W3CDTF">2026-04-27T02:51:11Z</dcterms:created>
  <dcterms:modified xsi:type="dcterms:W3CDTF">2026-05-11T17:24:07Z</dcterms:modified>
</cp:coreProperties>
</file>