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EHS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09-4277-BCBB-44049103B5ED}"/>
              </c:ext>
            </c:extLst>
          </c:dPt>
          <c:dPt>
            <c:idx val="1"/>
            <c:bubble3D val="0"/>
            <c:spPr>
              <a:solidFill>
                <a:srgbClr val="1B7C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09-4277-BCBB-44049103B5ED}"/>
              </c:ext>
            </c:extLst>
          </c:dPt>
          <c:dPt>
            <c:idx val="2"/>
            <c:bubble3D val="0"/>
            <c:spPr>
              <a:solidFill>
                <a:srgbClr val="5BA3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09-4277-BCBB-44049103B5ED}"/>
              </c:ext>
            </c:extLst>
          </c:dPt>
          <c:dPt>
            <c:idx val="3"/>
            <c:bubble3D val="0"/>
            <c:spPr>
              <a:solidFill>
                <a:srgbClr val="9CC5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09-4277-BCBB-44049103B5ED}"/>
              </c:ext>
            </c:extLst>
          </c:dPt>
          <c:dPt>
            <c:idx val="4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09-4277-BCBB-44049103B5E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09-4277-BCBB-44049103B5E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09-4277-BCBB-44049103B5E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09-4277-BCBB-44049103B5ED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09-4277-BCBB-44049103B5ED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s-CO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09-4277-BCBB-44049103B5E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Anomalias</c:v>
                </c:pt>
                <c:pt idx="1">
                  <c:v>Spread cilindros</c:v>
                </c:pt>
                <c:pt idx="2">
                  <c:v>Temp aceite</c:v>
                </c:pt>
                <c:pt idx="3">
                  <c:v>Pres aceite</c:v>
                </c:pt>
                <c:pt idx="4">
                  <c:v>Calidad datos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09-4277-BCBB-44049103B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3E5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83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8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s-CO" sz="84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perdidas en dos accidentes.</a:t>
            </a:r>
            <a:endParaRPr lang="es-CO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O" sz="6200" b="1" noProof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$20.000M</a:t>
            </a:r>
            <a:endParaRPr lang="es-CO" sz="62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perdidas directas para Boeing.</a:t>
            </a:r>
            <a:endParaRPr lang="es-CO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371600" cy="0"/>
          </a:xfrm>
          <a:prstGeom prst="line">
            <a:avLst/>
          </a:prstGeom>
          <a:noFill/>
          <a:ln w="12700">
            <a:solidFill>
              <a:srgbClr val="1B7CD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</a:t>
            </a:r>
            <a:r>
              <a:rPr lang="es-CO" sz="16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</a:t>
            </a:r>
            <a:r>
              <a:rPr lang="es-CO" sz="16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sensor que nadie escucho a tiempo."</a:t>
            </a:r>
            <a:endParaRPr lang="es-CO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200" b="1" kern="0" spc="3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 para la </a:t>
            </a:r>
            <a:r>
              <a:rPr lang="es-CO" sz="1100" noProof="0" dirty="0" err="1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aviacion</a:t>
            </a:r>
            <a:r>
              <a:rPr lang="es-CO" sz="11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post-737 MAX.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EL PROBLEMA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status quo cuesta vidas y dinero.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02920" cy="502920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O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reactivo, </a:t>
            </a:r>
            <a:r>
              <a:rPr lang="es-CO" sz="16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s-CO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234440" y="18836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calidad en aviación detecta el fallo cuando ya ocurrió.</a:t>
            </a:r>
            <a:endParaRPr lang="es-CO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502920" cy="502920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O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1234440" y="22677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&gt;$150.000 USD / día</a:t>
            </a:r>
            <a:endParaRPr lang="es-CO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234440" y="2596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 de una aeronave en tierra por falla no anticipada.</a:t>
            </a:r>
            <a:endParaRPr lang="es-CO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920" y="3026664"/>
            <a:ext cx="502920" cy="502920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O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1234440" y="29809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+ retrabajos + demandas</a:t>
            </a:r>
            <a:endParaRPr lang="es-CO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234440" y="33101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incidente reportado dispara cascada regulatoria y reputacional.</a:t>
            </a:r>
            <a:endParaRPr lang="es-CO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502920" y="3739896"/>
            <a:ext cx="502920" cy="502920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O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1234440" y="36941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si. Señales no.</a:t>
            </a:r>
            <a:endParaRPr lang="es-CO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tiene telemetría, pero no la información que necesita para actuar.</a:t>
            </a:r>
            <a:endParaRPr lang="es-CO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TIMING DE MERCADO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ventanas se abrieron al mismo tiempo.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278892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-85%</a:t>
            </a:r>
            <a:endParaRPr lang="es-CO" sz="44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b="1" kern="0" spc="2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SENSORES IOT</a:t>
            </a:r>
            <a:endParaRPr lang="es-CO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s-CO" sz="11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sensorica</a:t>
            </a: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industrial cayo 85% en 10 anos. Lo que era CAPEX, hoy es OPEX.</a:t>
            </a:r>
            <a:endParaRPr lang="es-CO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268980" y="1691640"/>
            <a:ext cx="2606040" cy="278892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326898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FAA/EASA</a:t>
            </a:r>
            <a:endParaRPr lang="es-CO" sz="4400" noProof="0" dirty="0"/>
          </a:p>
        </p:txBody>
      </p:sp>
      <p:sp>
        <p:nvSpPr>
          <p:cNvPr id="10" name="Text 8"/>
          <p:cNvSpPr/>
          <p:nvPr/>
        </p:nvSpPr>
        <p:spPr>
          <a:xfrm>
            <a:off x="34518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b="1" kern="0" spc="2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EXIGIDA</a:t>
            </a:r>
            <a:endParaRPr lang="es-CO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349758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Post-737 MAX, los reguladores pasaron de recomendar a exigir trazabilidad de datos.</a:t>
            </a:r>
            <a:endParaRPr lang="es-CO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606040" cy="278892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608076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s-CO" sz="4400" noProof="0" dirty="0"/>
          </a:p>
        </p:txBody>
      </p:sp>
      <p:sp>
        <p:nvSpPr>
          <p:cNvPr id="14" name="Text 12"/>
          <p:cNvSpPr/>
          <p:nvPr/>
        </p:nvSpPr>
        <p:spPr>
          <a:xfrm>
            <a:off x="626364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b="1" kern="0" spc="2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MADUROS</a:t>
            </a:r>
            <a:endParaRPr lang="es-CO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Glue, Athena y Lambda bajaron la barrera de infraestructura a casi cero.</a:t>
            </a:r>
            <a:endParaRPr lang="es-CO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LA SOLUCION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r>
              <a:rPr lang="es-CO" sz="2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convierte millones de lecturas de sensores</a:t>
            </a:r>
            <a:endParaRPr lang="es-CO" sz="2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pregunta respondida:</a:t>
            </a:r>
            <a:endParaRPr lang="es-CO" sz="20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4200" b="1" i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"¿Que vuelo necesita </a:t>
            </a:r>
            <a:r>
              <a:rPr lang="es-CO" sz="4200" b="1" i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</a:t>
            </a:r>
            <a:r>
              <a:rPr lang="es-CO" sz="4200" b="1" i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hoy?"</a:t>
            </a:r>
            <a:endParaRPr lang="es-CO" sz="4200" noProof="0" dirty="0"/>
          </a:p>
        </p:txBody>
      </p:sp>
      <p:sp>
        <p:nvSpPr>
          <p:cNvPr id="6" name="Shape 4"/>
          <p:cNvSpPr/>
          <p:nvPr/>
        </p:nvSpPr>
        <p:spPr>
          <a:xfrm>
            <a:off x="1257300" y="3931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125730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kern="0" spc="2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s-CO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2948940" y="3931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294894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s-CO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640580" y="3931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464058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s-CO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332220" y="3931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63322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CO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ARQUITECTURA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millones de filas a una decisión.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377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" cy="640080"/>
          </a:xfrm>
          <a:prstGeom prst="ellipse">
            <a:avLst/>
          </a:prstGeom>
          <a:solidFill>
            <a:srgbClr val="B07D2E"/>
          </a:solidFill>
          <a:ln w="12700">
            <a:solidFill>
              <a:srgbClr val="B07D2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600" b="1" kern="0" spc="300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s-CO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 del sensor, sin tocar. Trazabilidad total.</a:t>
            </a:r>
            <a:endParaRPr lang="es-CO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CO" sz="3600" noProof="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377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640080" cy="640080"/>
          </a:xfrm>
          <a:prstGeom prst="ellipse">
            <a:avLst/>
          </a:prstGeom>
          <a:solidFill>
            <a:srgbClr val="8C9BAB"/>
          </a:solidFill>
          <a:ln w="12700">
            <a:solidFill>
              <a:srgbClr val="8C9BA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600" b="1" kern="0" spc="300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s-CO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3383280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s-CO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Limpio, normalizado, </a:t>
            </a:r>
            <a:r>
              <a:rPr lang="es-CO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eliminados, sensores colapsados.</a:t>
            </a:r>
            <a:endParaRPr lang="es-CO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580644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6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CO" sz="3600" noProof="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2377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Shape 15"/>
          <p:cNvSpPr/>
          <p:nvPr/>
        </p:nvSpPr>
        <p:spPr>
          <a:xfrm>
            <a:off x="7132320" y="1920240"/>
            <a:ext cx="640080" cy="6400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600" b="1" kern="0" spc="300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s-CO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6263640" y="2898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</a:t>
            </a:r>
            <a:r>
              <a:rPr lang="es-CO" sz="1200" i="1" noProof="0" dirty="0" err="1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s-CO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40080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vuelo. </a:t>
            </a:r>
            <a:r>
              <a:rPr lang="es-CO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Score. Listo para </a:t>
            </a:r>
            <a:r>
              <a:rPr lang="es-CO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r>
              <a:rPr lang="es-CO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kern="0" spc="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 ·  AWS Glue  ·  AWS Athena  ·  AWS Lambda  ·  </a:t>
            </a:r>
            <a:r>
              <a:rPr lang="es-CO" sz="1100" kern="0" spc="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r>
              <a:rPr lang="es-CO" sz="1100" kern="0" spc="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Python 3.12  ·  </a:t>
            </a:r>
            <a:r>
              <a:rPr lang="es-CO" sz="1100" kern="0" spc="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s-CO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EL PRODUCTO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numero. Cinco dimensiones.</a:t>
            </a:r>
            <a:endParaRPr lang="es-CO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2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s-CO" sz="2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Health Score</a:t>
            </a:r>
            <a:endParaRPr lang="es-CO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0 - 100</a:t>
            </a:r>
            <a:endParaRPr lang="es-CO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compuesta por vuelo que pondera cinco dimensiones de salud del motor. No es caja negra: cada peso esta documentado y se recalibra contra datos de fallo reales.</a:t>
            </a:r>
            <a:endParaRPr lang="es-CO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1B7CD2"/>
          </a:solidFill>
          <a:ln w="12700">
            <a:solidFill>
              <a:srgbClr val="1B7CD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Text 6"/>
          <p:cNvSpPr/>
          <p:nvPr/>
        </p:nvSpPr>
        <p:spPr>
          <a:xfrm>
            <a:off x="658368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vuelos críticos &gt; lista accionable diaria</a:t>
            </a:r>
            <a:endParaRPr lang="es-CO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3995928"/>
            <a:ext cx="109728" cy="109728"/>
          </a:xfrm>
          <a:prstGeom prst="ellipse">
            <a:avLst/>
          </a:prstGeom>
          <a:solidFill>
            <a:srgbClr val="1B7CD2"/>
          </a:solidFill>
          <a:ln w="12700">
            <a:solidFill>
              <a:srgbClr val="1B7CD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658368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</a:t>
            </a:r>
            <a:r>
              <a:rPr lang="es-CO" sz="11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temporal &gt; en que minuto apareció la anomalía</a:t>
            </a:r>
            <a:endParaRPr lang="es-CO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4288536"/>
            <a:ext cx="109728" cy="109728"/>
          </a:xfrm>
          <a:prstGeom prst="ellipse">
            <a:avLst/>
          </a:prstGeom>
          <a:solidFill>
            <a:srgbClr val="1B7CD2"/>
          </a:solidFill>
          <a:ln w="12700">
            <a:solidFill>
              <a:srgbClr val="1B7CD2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658368" y="4197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subsistema &gt; donde se concentran los problemas</a:t>
            </a:r>
            <a:endParaRPr lang="es-CO" sz="1100" noProof="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212080" y="146304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TRACCION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</a:t>
            </a:r>
            <a:r>
              <a:rPr lang="es-CO" sz="30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 código.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143000" y="1709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</a:t>
            </a:r>
            <a:r>
              <a:rPr lang="es-CO" sz="13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s-CO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&gt; Silver &gt; Gold corriendo hoy.</a:t>
            </a:r>
            <a:endParaRPr lang="es-CO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3268980" y="150876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8"/>
          <p:cNvSpPr/>
          <p:nvPr/>
        </p:nvSpPr>
        <p:spPr>
          <a:xfrm>
            <a:off x="3451860" y="169164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34518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3954780" y="1709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vuelos NGAFID procesados</a:t>
            </a:r>
            <a:endParaRPr lang="es-CO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45186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real, 23 sensores, 1 Hz.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6766560" y="1709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s-CO" sz="13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interactivos</a:t>
            </a:r>
            <a:endParaRPr lang="es-CO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HTML autónomos por capa.</a:t>
            </a:r>
            <a:endParaRPr lang="es-CO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1143000" y="3172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CO" sz="13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s-CO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reproducible en 5 minutos.</a:t>
            </a:r>
            <a:endParaRPr lang="es-CO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326898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Shape 23"/>
          <p:cNvSpPr/>
          <p:nvPr/>
        </p:nvSpPr>
        <p:spPr>
          <a:xfrm>
            <a:off x="3451860" y="315468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34518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27" name="Text 25"/>
          <p:cNvSpPr/>
          <p:nvPr/>
        </p:nvSpPr>
        <p:spPr>
          <a:xfrm>
            <a:off x="3954780" y="3172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datos completo</a:t>
            </a:r>
            <a:endParaRPr lang="es-CO" sz="1300" noProof="0" dirty="0"/>
          </a:p>
        </p:txBody>
      </p:sp>
      <p:sp>
        <p:nvSpPr>
          <p:cNvPr id="28" name="Text 26"/>
          <p:cNvSpPr/>
          <p:nvPr/>
        </p:nvSpPr>
        <p:spPr>
          <a:xfrm>
            <a:off x="34518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linaje, ciclo de vida documentados.</a:t>
            </a:r>
            <a:endParaRPr lang="es-CO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06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30" name="Shape 28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1" name="Text 29"/>
          <p:cNvSpPr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CO" sz="1800" noProof="0" dirty="0"/>
          </a:p>
        </p:txBody>
      </p:sp>
      <p:sp>
        <p:nvSpPr>
          <p:cNvPr id="32" name="Text 30"/>
          <p:cNvSpPr/>
          <p:nvPr/>
        </p:nvSpPr>
        <p:spPr>
          <a:xfrm>
            <a:off x="6766560" y="3172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corporativa</a:t>
            </a:r>
            <a:endParaRPr lang="es-CO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626364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+ </a:t>
            </a: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meses + matriz de riesgos.</a:t>
            </a:r>
            <a:endParaRPr lang="es-CO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hoy. No pedimos capital para construir; pedimos capital para escalar.</a:t>
            </a:r>
            <a:endParaRPr lang="es-CO" sz="1200" noProof="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DIFERENCIACION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el camino menos obvio.</a:t>
            </a:r>
            <a:endParaRPr lang="es-CO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Evaluamos tres rutas estratégicas. Una gano con doble del score.</a:t>
            </a:r>
            <a:endParaRPr lang="es-CO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endParaRPr lang="es-CO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s-CO" sz="10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s-CO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s-CO" sz="10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CLAVE</a:t>
            </a:r>
            <a:endParaRPr lang="es-CO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7406640" y="1828800"/>
            <a:ext cx="12801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s-CO" sz="10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s-CO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" y="2423160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s-CO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438912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Tercerizar ensamblaje critico</a:t>
            </a:r>
            <a:endParaRPr lang="es-CO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55778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control</a:t>
            </a:r>
            <a:endParaRPr lang="es-CO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740664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</a:t>
            </a:r>
            <a:endParaRPr lang="es-CO" sz="18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Shape 15"/>
          <p:cNvSpPr/>
          <p:nvPr/>
        </p:nvSpPr>
        <p:spPr>
          <a:xfrm>
            <a:off x="594360" y="2926080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s-CO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118872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robótica total</a:t>
            </a:r>
            <a:endParaRPr lang="es-CO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557784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inviable</a:t>
            </a:r>
            <a:endParaRPr lang="es-CO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7406640" y="2834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s-CO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Shape 21"/>
          <p:cNvSpPr/>
          <p:nvPr/>
        </p:nvSpPr>
        <p:spPr>
          <a:xfrm>
            <a:off x="594360" y="342900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s-CO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1188720" y="3337560"/>
            <a:ext cx="438912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300" b="1" noProof="0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r>
              <a:rPr lang="es-CO" sz="13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analítica asistiendo al operario</a:t>
            </a:r>
            <a:endParaRPr lang="es-CO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557784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s-CO" sz="1100" i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y financiable</a:t>
            </a:r>
            <a:endParaRPr lang="es-CO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740664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noProof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4.70</a:t>
            </a:r>
            <a:endParaRPr lang="es-CO" sz="1800" noProof="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800" b="1" i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reemplazamos al humano. Lo empoderamos con datos."</a:t>
            </a:r>
            <a:endParaRPr lang="es-CO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IMPACTO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 12 meses.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37160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</a:t>
            </a:r>
            <a:endParaRPr lang="es-CO" sz="5400" noProof="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fallas humanas</a:t>
            </a:r>
            <a:endParaRPr lang="es-CO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2468880" y="22219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Detectables por instrumentación.</a:t>
            </a:r>
            <a:endParaRPr lang="es-CO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977640" cy="137160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s-CO" sz="5400" noProof="0" dirty="0"/>
          </a:p>
        </p:txBody>
      </p:sp>
      <p:sp>
        <p:nvSpPr>
          <p:cNvPr id="10" name="Text 8"/>
          <p:cNvSpPr/>
          <p:nvPr/>
        </p:nvSpPr>
        <p:spPr>
          <a:xfrm>
            <a:off x="6720840" y="1783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manuales de calidad</a:t>
            </a:r>
            <a:endParaRPr lang="es-CO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6720840" y="22219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ano 1 (</a:t>
            </a: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77640" cy="137160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</a:t>
            </a:r>
            <a:endParaRPr lang="es-CO" sz="5400" noProof="0" dirty="0"/>
          </a:p>
        </p:txBody>
      </p:sp>
      <p:sp>
        <p:nvSpPr>
          <p:cNvPr id="14" name="Text 12"/>
          <p:cNvSpPr/>
          <p:nvPr/>
        </p:nvSpPr>
        <p:spPr>
          <a:xfrm>
            <a:off x="2468880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inmutable</a:t>
            </a:r>
            <a:endParaRPr lang="es-CO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2468880" y="38221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 vs Airbus.</a:t>
            </a:r>
            <a:endParaRPr lang="es-CO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977640" cy="1371600"/>
          </a:xfrm>
          <a:prstGeom prst="rect">
            <a:avLst/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&lt;18m</a:t>
            </a:r>
            <a:endParaRPr lang="es-CO" sz="5400" noProof="0" dirty="0"/>
          </a:p>
        </p:txBody>
      </p:sp>
      <p:sp>
        <p:nvSpPr>
          <p:cNvPr id="18" name="Text 16"/>
          <p:cNvSpPr/>
          <p:nvPr/>
        </p:nvSpPr>
        <p:spPr>
          <a:xfrm>
            <a:off x="6720840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r>
              <a:rPr lang="es-CO" sz="14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CAPEX</a:t>
            </a:r>
            <a:endParaRPr lang="es-CO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6720840" y="38221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reducción de </a:t>
            </a: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105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escenarios conservadores. CAPEX inicial recuperado en &lt;18 meses solo por reducción de </a:t>
            </a:r>
            <a:r>
              <a:rPr lang="es-CO" sz="10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r>
              <a:rPr lang="es-CO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O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ROADMAP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meses. 4 fases. </a:t>
            </a:r>
            <a:r>
              <a:rPr lang="es-CO" sz="30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medibles cada trimestre.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7315200" cy="0"/>
          </a:xfrm>
          <a:prstGeom prst="line">
            <a:avLst/>
          </a:prstGeom>
          <a:noFill/>
          <a:ln w="381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548640" cy="548640"/>
          </a:xfrm>
          <a:prstGeom prst="ellipse">
            <a:avLst/>
          </a:prstGeom>
          <a:solidFill>
            <a:srgbClr val="003A7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O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+ Piloto</a:t>
            </a:r>
            <a:endParaRPr lang="es-CO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1-3</a:t>
            </a:r>
            <a:endParaRPr lang="es-CO" sz="1000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s-CO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puntos críticos sensorizados</a:t>
            </a:r>
            <a:endParaRPr lang="es-CO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548640" cy="548640"/>
          </a:xfrm>
          <a:prstGeom prst="ellipse">
            <a:avLst/>
          </a:prstGeom>
          <a:solidFill>
            <a:srgbClr val="003A7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O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26974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+ Formación</a:t>
            </a:r>
            <a:endParaRPr lang="es-CO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4-6</a:t>
            </a:r>
            <a:endParaRPr lang="es-CO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26974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s-CO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2697480" y="3291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 capacitación / operario</a:t>
            </a:r>
            <a:endParaRPr lang="es-CO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5212080" y="2286000"/>
            <a:ext cx="548640" cy="548640"/>
          </a:xfrm>
          <a:prstGeom prst="ellipse">
            <a:avLst/>
          </a:prstGeom>
          <a:solidFill>
            <a:srgbClr val="003A7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O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45262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s-CO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45262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7-9</a:t>
            </a:r>
            <a:endParaRPr lang="es-CO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5262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s-CO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526280" y="3291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líneas secundarias integradas</a:t>
            </a:r>
            <a:endParaRPr lang="es-CO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7040880" y="2286000"/>
            <a:ext cx="548640" cy="548640"/>
          </a:xfrm>
          <a:prstGeom prst="ellipse">
            <a:avLst/>
          </a:prstGeom>
          <a:solidFill>
            <a:srgbClr val="003A7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7040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CO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63550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total</a:t>
            </a:r>
            <a:endParaRPr lang="es-CO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63550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000" i="1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10-12</a:t>
            </a:r>
            <a:endParaRPr lang="es-CO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63550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3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s-CO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6355080" y="3291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reducción fallas humanas</a:t>
            </a:r>
            <a:endParaRPr lang="es-CO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tiene métricas de salida. Si una fase falla su KPI, se ajusta antes de pasar a la siguiente.</a:t>
            </a:r>
            <a:endParaRPr lang="es-CO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s-CO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b="1" kern="0" spc="400" noProof="0" dirty="0">
                <a:solidFill>
                  <a:srgbClr val="1B7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GESTION DE RIESGOS</a:t>
            </a:r>
            <a:endParaRPr lang="es-CO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riesgos. Cuatro planes activos.</a:t>
            </a:r>
            <a:endParaRPr lang="es-C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6733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673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TECNOLOGICO</a:t>
            </a:r>
            <a:endParaRPr lang="es-CO" sz="9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</a:t>
            </a:r>
            <a:r>
              <a:rPr lang="es-CO" sz="12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incompatibles con </a:t>
            </a:r>
            <a:r>
              <a:rPr lang="es-CO" sz="1200" b="1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moderno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industrial + piloto controlado en línea 737 MAX (mes 1-3)</a:t>
            </a:r>
            <a:endParaRPr lang="es-CO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8"/>
          <p:cNvSpPr/>
          <p:nvPr/>
        </p:nvSpPr>
        <p:spPr>
          <a:xfrm>
            <a:off x="4892040" y="16733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4892040" y="1673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LABORAL</a:t>
            </a:r>
            <a:endParaRPr lang="es-CO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sindical al cambio tecnológico</a:t>
            </a:r>
            <a:endParaRPr lang="es-CO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Mesas de dialogo desde mes 1. Operario reposicionado como supervisor.</a:t>
            </a:r>
            <a:endParaRPr lang="es-CO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REGULATORIO</a:t>
            </a:r>
            <a:endParaRPr lang="es-CO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FAA / EASA bajo supervisión reforzada</a:t>
            </a:r>
            <a:endParaRPr lang="es-CO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Co-diseno</a:t>
            </a: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FAA desde la fase piloto. Auditable por origen.</a:t>
            </a:r>
            <a:endParaRPr lang="es-CO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Shape 18"/>
          <p:cNvSpPr/>
          <p:nvPr/>
        </p:nvSpPr>
        <p:spPr>
          <a:xfrm>
            <a:off x="4892040" y="327355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3A75"/>
          </a:solidFill>
          <a:ln w="12700">
            <a:solidFill>
              <a:srgbClr val="003A7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48920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s-CO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892040" y="36118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lenta, mandos medios reportan en papel</a:t>
            </a:r>
            <a:endParaRPr lang="es-CO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892040" y="4023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Embajadores digitales + gamificación + bonos por cero defectos.</a:t>
            </a:r>
            <a:endParaRPr lang="es-CO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b="1" kern="0" spc="200" noProof="0" dirty="0" err="1">
                <a:solidFill>
                  <a:srgbClr val="003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BoeIoT</a:t>
            </a:r>
            <a:endParaRPr lang="es-CO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O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s-CO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829</Words>
  <Application>Microsoft Office PowerPoint</Application>
  <PresentationFormat>Presentación en pantalla (16:9)</PresentationFormat>
  <Paragraphs>190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BoeIoT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BoeIoT - Mantenimiento predictivo para la aviacion post-737 MAX</dc:title>
  <dc:subject>PptxGenJS Presentation</dc:subject>
  <dc:creator>Equipo BoeIoT</dc:creator>
  <cp:lastModifiedBy>Santiago Mendoza Munoz</cp:lastModifiedBy>
  <cp:revision>3</cp:revision>
  <dcterms:created xsi:type="dcterms:W3CDTF">2026-05-20T20:22:53Z</dcterms:created>
  <dcterms:modified xsi:type="dcterms:W3CDTF">2026-05-20T20:48:41Z</dcterms:modified>
</cp:coreProperties>
</file>